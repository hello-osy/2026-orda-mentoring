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센서에서 주행까지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2026 ORDA 1회차 멘토링 · 2026년 10월 29일 오후 5시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0972800" cy="3337560"/>
          </a:xfrm>
          <a:prstGeom prst="roundRect">
            <a:avLst/>
          </a:prstGeom>
          <a:solidFill>
            <a:srgbClr val="1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300" b="1">
                <a:solidFill>
                  <a:srgbClr val="FFFFFF"/>
                </a:solidFill>
                <a:latin typeface="Noto Sans CJK KR"/>
              </a:defRPr>
            </a:pPr>
            <a:r>
              <a:t>대회 자료로 만든 시뮬레이터</a:t>
            </a:r>
          </a:p>
          <a:p>
            <a:pPr>
              <a:spcAft>
                <a:spcPts val="1100"/>
              </a:spcAft>
              <a:defRPr sz="3300" b="1">
                <a:solidFill>
                  <a:srgbClr val="FFFFFF"/>
                </a:solidFill>
                <a:latin typeface="Noto Sans CJK KR"/>
              </a:defRPr>
            </a:pPr>
            <a:r>
              <a:t>한 파일로 읽는 자율주행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A8D9D6"/>
                </a:solidFill>
                <a:latin typeface="Noto Sans CJK KR"/>
              </a:defRPr>
            </a:pPr>
            <a:r>
              <a:t>멘토  오상영</a:t>
            </a:r>
          </a:p>
          <a:p>
            <a:pPr>
              <a:spcAft>
                <a:spcPts val="1100"/>
              </a:spcAft>
              <a:defRPr sz="2000" b="0">
                <a:solidFill>
                  <a:srgbClr val="A8D9D6"/>
                </a:solidFill>
                <a:latin typeface="Noto Sans CJK KR"/>
              </a:defRPr>
            </a:pPr>
            <a:r>
              <a:t>함께할 분  박소민 · 이혁준 · 양유경 · 추정윤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먼저, 어떤 규칙을 구현했나요?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최신 첨부 규정집(2026.10.08)을 우선하고 9월 미션 초안과 차이를 구분했습니다.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코드에 반영한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기본 주행 0.3~0.4 m/s 권고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서행: 기본 속도의 1/2, 최대 0.2 m/s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보행자: 완전 정지 후 3초 이상 대기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정지 판단 기준은 차량의 앞바퀴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실제로 측정해야 하는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정지선 오차 ±5 cm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T 주차: 차체 네 모서리가 선 안쪽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시설물 접촉·차선 이탈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한 바퀴 완주 / 10분 제한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도면을 좌표와 카메라 화면으로 옮기기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첨부 CAD 도면의 선형을 사용합니다. 시설물의 미확정 위치·동작은 학습용 설정입니다.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03</a:t>
            </a:r>
          </a:p>
        </p:txBody>
      </p:sp>
      <p:pic>
        <p:nvPicPr>
          <p:cNvPr id="7" name="Picture 6" descr="origina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629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219456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10 m × 6 m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차로 폭 약 0.55 m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출발 → 서행 → 보행자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→ 장애물 → 갈림길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→ 라바콘 → 신호등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→ T 주차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ROS 2에서는 입력과 출력을 먼저 고정합니다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Gazebo 차량은 카메라·라이다·주행 상태를 발행하고, 정답 코드는 센서로만 판단합니다.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Gazebo → 정답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/camera/image_raw  ·  Image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/scan  ·  LaserScan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/odom  ·  Odometry의 속도만 사용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시뮬레이션 시간 /clock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정답 코드 → Gazebo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/drive  ·  AckermannDriveStamped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speed: m/s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steering_angle: rad, 좌회전 +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어댑터: yaw_rate = v × tan(δ) / 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차선 주행은 작은 단계로 나눕니다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흰색 픽셀을 조향 명령으로 바로 바꾸기보다, 중간 결과를 보며 튜닝합니다.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920240" cy="1143000"/>
          </a:xfrm>
          <a:prstGeom prst="roundRect">
            <a:avLst/>
          </a:prstGeom>
          <a:solidFill>
            <a:srgbClr val="1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15184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흰색 HSV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6883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14B8A6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2377440"/>
            <a:ext cx="1920240" cy="1143000"/>
          </a:xfrm>
          <a:prstGeom prst="roundRect">
            <a:avLst/>
          </a:prstGeom>
          <a:solidFill>
            <a:srgbClr val="1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615184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지면 투영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26883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14B8A6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2377440"/>
            <a:ext cx="1920240" cy="1143000"/>
          </a:xfrm>
          <a:prstGeom prst="roundRect">
            <a:avLst/>
          </a:prstGeom>
          <a:solidFill>
            <a:srgbClr val="1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2615184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Sliding</a:t>
            </a:r>
          </a:p>
          <a:p>
            <a:pPr>
              <a:spcAft>
                <a:spcPts val="1100"/>
              </a:spcAft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883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14B8A6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1" y="2377440"/>
            <a:ext cx="1920240" cy="1143000"/>
          </a:xfrm>
          <a:prstGeom prst="roundRect">
            <a:avLst/>
          </a:prstGeom>
          <a:solidFill>
            <a:srgbClr val="1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39" y="2615184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Scan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26883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14B8A6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0655" y="2377440"/>
            <a:ext cx="1920240" cy="1143000"/>
          </a:xfrm>
          <a:prstGeom prst="roundRect">
            <a:avLst/>
          </a:prstGeom>
          <a:solidFill>
            <a:srgbClr val="1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0383" y="2615184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PID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수평 정지선과 노면 문자는 차선 후보에서 분리합니다.</a:t>
            </a:r>
          </a:p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한쪽 차선만 보이면 좌우 정체성을 유지하고 법선 방향으로 중심을 복원합니다.</a:t>
            </a:r>
          </a:p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Scan line 목표점을 향한 기본 조향에 PID 보정을 더합니다.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미션은 기본 주행의 목표와 속도를 바꿉니다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미션 순서 + 반복 인식 확인으로 옆 도로의 표지판이 잘못 작동하는 일을 줄입니다.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카메라 / YOLOv8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서행 → 속도 상한 낮추기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보행자 → 정지선 접근 + 3초 대기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좌/우 → 방향 기억, 장애물 뒤 차로 선택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적색·황색 → 정지, 녹색 → 발진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라이다 / 상태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장애물 → 차체 폭을 반영한 빈 공간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라바콘 → 충돌 여유 + 안쪽 통과 조건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필요한 센서가 오래됨 → 정지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주차 중 장애물·라이다/속도 끊김 → 중단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정지선: 보이는 위치와 실제 거리는 다릅니다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±5 cm는 설정값만 넣는다고 충족되는 조건이 아닙니다. 정지 오차를 반복 측정해야 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•  카메라 높이·기울기·화각으로 픽셀을 지면 거리로 바꿉니다.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•  거리 기준은 카메라가 아니라 앞바퀴입니다.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•  가까워져 화면 밖으로 사라진 첫 정지선은 주행 속도로 추적합니다.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•  다음 횡단보도 줄로 목표를 바꾸면 정지 위치가 밀립니다.</a:t>
            </a:r>
          </a:p>
          <a:p>
            <a:pPr>
              <a:spcAft>
                <a:spcPts val="1100"/>
              </a:spcAft>
              <a:defRPr sz="2200" b="0">
                <a:solidFill>
                  <a:srgbClr val="183447"/>
                </a:solidFill>
                <a:latin typeface="Noto Sans CJK KR"/>
              </a:defRPr>
            </a:pPr>
            <a:r>
              <a:t>•  보행자 대기 시간은 실제 속도가 0에 가까워진 뒤부터 셉니다.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T 주차: 시간표 전에 진입 상태를 맞춥니다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하드코딩의 재현성은 출발 자세의 재현성에 달려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① 영점 조절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주차 표지판으로 미션 진입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기준선까지 남은 거리 맞추기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차선 중심 오차·방향 오차 확인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정지 상태가 안정되면 시퀀스 시작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② YAML 시퀀스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시간 · 속도 · 조향각의 목록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전진 / 후진 / 조향 / 정지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장애물 감지 시 재개하지 않고 중단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정렬 뒤 영상 미사용, 라이다·속도 감시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YOLOv8: rosbag부터 학습까지 연결합니다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시뮬레이터에서 직접 기록한 이미지와 동기화된 라벨을 사용합니다.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record → rosbag: 카메라 + 시뮬레이터 정답 상자</a:t>
            </a:r>
          </a:p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extract → 이미지 프레임 + YOLO 형식 라벨 + 데이터 분리</a:t>
            </a:r>
          </a:p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train → 8개 클래스 학습 → best.pt</a:t>
            </a:r>
          </a:p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좌/우 의미가 바뀌는 좌우 반전 증강은 사용하지 않습니다.</a:t>
            </a:r>
          </a:p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신호 색이 바뀌는 강한 색상 증강도 피합니다.</a:t>
            </a:r>
          </a:p>
          <a:p>
            <a:pPr>
              <a:spcAft>
                <a:spcPts val="1100"/>
              </a:spcAft>
              <a:defRPr sz="2100" b="0">
                <a:solidFill>
                  <a:srgbClr val="183447"/>
                </a:solidFill>
                <a:latin typeface="Noto Sans CJK KR"/>
              </a:defRPr>
            </a:pPr>
            <a:r>
              <a:t>•  주행 코드는 정답 상자를 읽지 않고 학습 모델로 추론합니다.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검증한 것과 아직 검증하지 않은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2026-10-28 · 최종 기본 코스 + 수정 구간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확인한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최종 기본 코스 무개입 완주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13개 체크포인트·9개 기준 통과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카메라2초 중단 주차 시험 통과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정지선 ±5cm·콘4개 안쪽 통과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77개 테스트·YOLO mAP50 0.9888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추가로 확인할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최종 소스의 우측 전체 재시험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여러 배치·조명에서의 반복 성공률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실물 LIMO 성능·공식 채점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복붙으로 실행하고, YAML 하나로 조정합니다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프로젝트 README.md에 전체 명령이 있습니다. 사용자 실행 파일은 scripts/에 모았습니다.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0881360" cy="3429000"/>
          </a:xfrm>
          <a:prstGeom prst="roundRect">
            <a:avLst/>
          </a:prstGeom>
          <a:solidFill>
            <a:srgbClr val="1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10241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  <a:r>
              <a:t>bash scripts/setup.sh configs/config.yaml</a:t>
            </a:r>
          </a:p>
          <a:p>
            <a:pPr>
              <a:spcAft>
                <a:spcPts val="11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  <a:r>
              <a:t># 서로 다른 터미널에서 실행</a:t>
            </a:r>
          </a:p>
          <a:p>
            <a:pPr>
              <a:spcAft>
                <a:spcPts val="11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  <a:r>
              <a:t>bash scripts/simulator.sh configs/config.yaml</a:t>
            </a:r>
          </a:p>
          <a:p>
            <a:pPr>
              <a:spcAft>
                <a:spcPts val="1100"/>
              </a:spcAft>
              <a:defRPr sz="2100" b="0">
                <a:solidFill>
                  <a:srgbClr val="FFFFFF"/>
                </a:solidFill>
                <a:latin typeface="Noto Sans CJK KR"/>
              </a:defRPr>
            </a:pPr>
            <a:r>
              <a:t>bash scripts/answer.sh configs/config.yaml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526777"/>
                </a:solidFill>
                <a:latin typeface="Noto Sans CJK KR"/>
              </a:defRPr>
            </a:pPr>
            <a:r>
              <a:t>모델이 아직 없으면 record → extract → train을 먼저 실행합니다.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직접 돌려 보면서 고친 세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구현 과정의 실제 실패 사례입니다. 성공 여부는 앞의 검증 결과와 함께 확인하세요.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차선: 흰색도 역할이 다릅니다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노면 글자·마름모를 차선으로 오인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한 곡선의 두 봉우리를 양쪽 선으로 오인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연결 성분 + 이전 좌우 판단으로 수정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정답 데이터도 확인해야 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red 라벨인데 켜진 등이 화면 밖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다른 표지판이 신호등을 가린 표본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켜진 등이 보이는 표본만 남기고 재촬영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주차 시간표도 실제 물리로 반복 보정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같은 카메라 프레임을 다시 쓰면?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전체 주행 시험에서 발견한 시간 처리 문제입니다. 거리뿐 아니라 촬영 시각도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수정 전: 정지선 6.51 cm 초과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묵은 RGB의 거리를 매 tick 다시 대입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속도로 계산한 이동 거리가 되돌아감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기록을 대조해 약 10.5 cm 편향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수정 후: 정지선 2.20 cm 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새 프레임만 한 번 반영 + 촬영 후 이동 보정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처리가 늦으면 전진 거리를 제한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이 PC에 맞춰 시뮬레이션 처리 여유 확보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실제 허용 범위 안에서 3.138초 정지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회전 중에는 점선의 모양도 바뀝니다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하단 코너에서 장애물 회피로 넘어갈 때 발생한 실제 실패입니다.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4864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64008" cy="3337560"/>
          </a:xfrm>
          <a:prstGeom prst="rect">
            <a:avLst/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실패: 잘못 기억한 도로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5351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회전하자 점선의 가로/세로 비율이 커짐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정상 점선을 지우고 합류선만 남김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잘못 저장한 방향으로 회피를 계속함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평지에서 시작한 구간 시험에는 없던 문제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64008" cy="3337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02535"/>
                </a:solidFill>
                <a:latin typeface="Noto Sans CJK KR"/>
              </a:defRPr>
            </a:pPr>
            <a:r>
              <a:t>수정: 점선 여러 개로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53512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회전된 사각형의 짧은 변/긴 변 사용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여러 점선의 방향이 일치할 때만 채택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실제 진입 방향 오차 0.22°로 개선</a:t>
            </a:r>
          </a:p>
          <a:p>
            <a:pPr>
              <a:spcAft>
                <a:spcPts val="1100"/>
              </a:spcAft>
              <a:defRPr sz="1800" b="0">
                <a:solidFill>
                  <a:srgbClr val="183447"/>
                </a:solidFill>
                <a:latin typeface="Noto Sans CJK KR"/>
              </a:defRPr>
            </a:pPr>
            <a:r>
              <a:t>코너부터 장애물·갈림길·주차까지 재시험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526777"/>
                </a:solidFill>
                <a:latin typeface="Noto Sans CJK KR"/>
              </a:defRPr>
            </a:pPr>
            <a:r>
              <a:t>ORDA 2026  /  MENTORING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64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02535"/>
                </a:solidFill>
                <a:latin typeface="Noto Sans CJK KR"/>
              </a:defRPr>
            </a:pPr>
            <a:r>
              <a:t>같이 확인해 볼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179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526777"/>
                </a:solidFill>
                <a:latin typeface="Noto Sans CJK KR"/>
              </a:defRPr>
            </a:pPr>
            <a:r>
              <a:t>실패 장면을 기록하고, 한 번에 한 가지 원인을 수정한 뒤 같은 조건으로 재시험합니다.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526777"/>
                </a:solidFill>
                <a:latin typeface="Noto Sans CJK KR"/>
              </a:defRPr>
            </a:pPr>
            <a:r>
              <a:t>오상영  ·  2026.10.29   |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 b="0">
                <a:solidFill>
                  <a:srgbClr val="183447"/>
                </a:solidFill>
                <a:latin typeface="Noto Sans CJK KR"/>
              </a:defRPr>
            </a:pPr>
            <a:r>
              <a:t>•  차선 화면과 /answer/debug_image를 나란히 비교하기</a:t>
            </a:r>
          </a:p>
          <a:p>
            <a:pPr>
              <a:spcAft>
                <a:spcPts val="1100"/>
              </a:spcAft>
              <a:defRPr sz="2300" b="0">
                <a:solidFill>
                  <a:srgbClr val="183447"/>
                </a:solidFill>
                <a:latin typeface="Noto Sans CJK KR"/>
              </a:defRPr>
            </a:pPr>
            <a:r>
              <a:t>•  조향이 흔들리면 인식 오차와 PID 오차를 따로 확인하기</a:t>
            </a:r>
          </a:p>
          <a:p>
            <a:pPr>
              <a:spcAft>
                <a:spcPts val="1100"/>
              </a:spcAft>
              <a:defRPr sz="2300" b="0">
                <a:solidFill>
                  <a:srgbClr val="183447"/>
                </a:solidFill>
                <a:latin typeface="Noto Sans CJK KR"/>
              </a:defRPr>
            </a:pPr>
            <a:r>
              <a:t>•  동일한 정지선에서 여러 번 멈추고 앞바퀴 오차 재기</a:t>
            </a:r>
          </a:p>
          <a:p>
            <a:pPr>
              <a:spcAft>
                <a:spcPts val="1100"/>
              </a:spcAft>
              <a:defRPr sz="2300" b="0">
                <a:solidFill>
                  <a:srgbClr val="183447"/>
                </a:solidFill>
                <a:latin typeface="Noto Sans CJK KR"/>
              </a:defRPr>
            </a:pPr>
            <a:r>
              <a:t>•  주차 진입 자세를 바꿔 영점 조절이 복원되는지 보기</a:t>
            </a:r>
          </a:p>
          <a:p>
            <a:pPr>
              <a:spcAft>
                <a:spcPts val="1100"/>
              </a:spcAft>
              <a:defRPr sz="2300" b="0">
                <a:solidFill>
                  <a:srgbClr val="183447"/>
                </a:solidFill>
                <a:latin typeface="Noto Sans CJK KR"/>
              </a:defRPr>
            </a:pPr>
            <a:r>
              <a:t>•  다른 조명·시점의 데이터로 YOLO 오검출 확인하기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26777"/>
                </a:solidFill>
                <a:latin typeface="Noto Sans CJK KR"/>
              </a:defRPr>
            </a:pPr>
            <a:r>
              <a:t>참고: 대회 규정·CAD / 2026-orda-education / unity-AD-simulator / ai-autonomous-driving-competition-2026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ORDA 1회차 멘토링 — 센서에서 주행까지</dc:title>
  <dc:subject>Gazebo / ROS 2 / YOLOv8 구현 및 검증 범위</dc:subject>
  <dc:creator>오상영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